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DEFINITION  ·  #20  ·  TOWN PLANNER TEAM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Alchemist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Transmuting technical excellence into investor gold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v0.4.12  ·  20 February 2026  ·  SG/Send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4074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gold is real. The Alchemist's job is to refine it, present it in the right form,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place it in front of the right people at the right moment."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Two Worlds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474720" cy="28346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474720" cy="64008"/>
          </a:xfrm>
          <a:prstGeom prst="rect">
            <a:avLst/>
          </a:prstGeom>
          <a:solidFill>
            <a:srgbClr val="4A4560"/>
          </a:solidFill>
          <a:ln w="12700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" cy="54864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PKI with non-extractable keys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54864" cy="54864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 implementation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4864" cy="54864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29-finding security review, all addressed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54864" cy="54864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deployment templates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54864" cy="54864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19-role AI team with daily briefs</a:t>
            </a:r>
            <a:endParaRPr lang="en-US" sz="11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31720"/>
            <a:ext cx="731520" cy="731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97764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ALCHEMIST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120640" y="1554480"/>
            <a:ext cx="3474720" cy="28346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20640" y="1554480"/>
            <a:ext cx="34747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208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HEAR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212080" y="2103120"/>
            <a:ext cx="54864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534924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comms — zero software install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212080" y="2505456"/>
            <a:ext cx="54864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534924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security infrastructure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212080" y="2907792"/>
            <a:ext cx="54864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5"/>
          <p:cNvSpPr/>
          <p:nvPr/>
        </p:nvSpPr>
        <p:spPr>
          <a:xfrm>
            <a:off x="5349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ahead of Series A peers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212080" y="3310128"/>
            <a:ext cx="54864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7"/>
          <p:cNvSpPr/>
          <p:nvPr/>
        </p:nvSpPr>
        <p:spPr>
          <a:xfrm>
            <a:off x="534924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SaaS-grade unit economics from day one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212080" y="3712464"/>
            <a:ext cx="54864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9"/>
          <p:cNvSpPr/>
          <p:nvPr/>
        </p:nvSpPr>
        <p:spPr>
          <a:xfrm>
            <a:off x="5349240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human, full-team output efficiency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statements are true. The Alchemist ensures investors hear the value — without fabricating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SG/Send Needs This Role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"Investors don't fund architecture documents.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fund businesses. They fund growth stories,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models, market opportunities, and teams that can execute."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20116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34640"/>
            <a:ext cx="2651760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718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3429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Output, Wrong Language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briefs, architecture docs, security reviews, PKI implementations — extraordinary output that speaks to technologists, not investors.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834640"/>
            <a:ext cx="2651760" cy="20116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2834640"/>
            <a:ext cx="2651760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9718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4992" y="3429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Value, Hidden Story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64992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opportunity is genuine. Browser PKI, zero-install encryption, open source with enterprise-grade security. The story needs translation.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2834640"/>
            <a:ext cx="2651760" cy="20116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2834640"/>
            <a:ext cx="2651760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718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9632" y="3429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Need a Relationship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9632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isn't a transaction. It's a relationship built over months — pipeline management, meeting prep, follow-ups, expectation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Core Domains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206240" cy="987552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9875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184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00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Materials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decks, briefing packs, one-pagers, business plans, financial narratives, demo scripts — every artefact an investor will ever see.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624328"/>
            <a:ext cx="4206240" cy="987552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24328"/>
            <a:ext cx="64008" cy="9875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3405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7157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tracking via B0–B10 framework. Meeting prep briefs. Follow-up management. Expectation management. Sign-off loops.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739896"/>
            <a:ext cx="4206240" cy="987552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739896"/>
            <a:ext cx="64008" cy="9875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4962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8313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Construction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41788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investment story: origin, market, traction, technology moat, and vision. Each narrative maintained and updated continuously.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92040" y="1508760"/>
            <a:ext cx="4206240" cy="987552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1508760"/>
            <a:ext cx="64008" cy="9875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61848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1600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Translation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32120" y="19476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Wardley maps → market timing. Security reviews → credibility. Deployment templates → unit economics. Architecture → competitive moat.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892040" y="2624328"/>
            <a:ext cx="4206240" cy="987552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92040" y="2624328"/>
            <a:ext cx="64008" cy="9875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73405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32120" y="27157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Readiness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53212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business, and legal prep. Data room setup — using SG/Send's own product as the data room. The medium is the message.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TRANSMUTATION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Material  →  Investment Gold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OUTPUT (Technical)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1536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ALCHEMIST TRANSLATION (Investment)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85216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920240"/>
            <a:ext cx="36576" cy="585216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20299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Wardley map: PKI moving from genesis to custom-build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99339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where market demand is just arriving — first-mover position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8229600" cy="585216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2542032"/>
            <a:ext cx="36576" cy="585216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651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review: 29 findings, all addressed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61518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ahead of most Series A companies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8229600" cy="585216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26280" y="3163824"/>
            <a:ext cx="36576" cy="585216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44568" y="32735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32369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deployment templates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369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SaaS-grade unit economics from day one — customers live in minutes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8229600" cy="585216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3785616"/>
            <a:ext cx="36576" cy="585216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8953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3858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19-role AI team producing daily briefs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858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producing full-team output — structurally more efficient than any competitor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8229600" cy="585216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26280" y="4407408"/>
            <a:ext cx="36576" cy="585216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4544568" y="45171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4360" y="44805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open source licence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480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enterprise procurement — no vendor lock-in, no legal review delays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B0–B10 Priority Framework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10058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81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Crisis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5819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investor relationships at risk. War room. Full team briefing.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02536"/>
            <a:ext cx="10058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756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0756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Time Sensitive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075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focus. Daily updates. Team resources redirected. Current investor group.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496312"/>
            <a:ext cx="100584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94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25694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Strong Interest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5694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updates. Dedicated materials. Demo environment provisioned.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90088"/>
            <a:ext cx="1005840" cy="457200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0632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Prospect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0632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meeting scheduled. Introductory materials sent. Relationship warming.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83864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483864"/>
            <a:ext cx="1005840" cy="45720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557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557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Lead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557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scheduled. One-pager sent. Monitoring for engagement signals.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977640"/>
            <a:ext cx="1005840" cy="45720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507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B5–B8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00200" y="40507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40507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for future outreach. Materials prepared when ready.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471416"/>
            <a:ext cx="8229600" cy="457200"/>
          </a:xfrm>
          <a:prstGeom prst="rect">
            <a:avLst/>
          </a:prstGeom>
          <a:solidFill>
            <a:srgbClr val="1C1A2E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471416"/>
            <a:ext cx="1005840" cy="457200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44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B9–B10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600200" y="4544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63440" y="4544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the pipeline. No active work. Revisit quarterly.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Alchemist classifies something as B1 — treat it with the same urgency as a P1.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Integration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56362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docs, technical moat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Investor-ready summaries, 'what do investors ask?'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156362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findings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narrative: '29 findings, all addressed'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7744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43230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leads, brand voice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0020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story, messaging alignment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37744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7744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43230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data, unit economics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narrative, revenue model framing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330098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3319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feedback, traction moments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002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quotes turned into investor slides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24612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24612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32" name="Text 30"/>
          <p:cNvSpPr/>
          <p:nvPr/>
        </p:nvSpPr>
        <p:spPr>
          <a:xfrm>
            <a:off x="4855464" y="330098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319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B-priority urgency signals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11480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" y="416966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00200" y="4187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materials on demand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60020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commissions pre-investor meetings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114800"/>
            <a:ext cx="4160520" cy="7772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4114800"/>
            <a:ext cx="1051560" cy="77724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42" name="Text 40"/>
          <p:cNvSpPr/>
          <p:nvPr/>
        </p:nvSpPr>
        <p:spPr>
          <a:xfrm>
            <a:off x="4855464" y="416966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4187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timeline, milestones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narrative: '4 weeks, concept to PKI'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"Alchemist"?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0" cy="32918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50292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27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Name Carries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6400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29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— takes one form (technical briefs) and produces another (investor narratives) without losing the substance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34056"/>
            <a:ext cx="6400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066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resonance — real alchemists spent most of their time convincing wealthy patrons to fund their laboratories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6400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relationships — explaining complex, incomprehensible work to people of wealth and power, making them believe it's worth funding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087368"/>
            <a:ext cx="6400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599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Alchemy evolved into Chemistry. The Alchemist is where experimental work meets the market.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508760"/>
            <a:ext cx="3017520" cy="329184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1508760"/>
            <a:ext cx="3017520" cy="64008"/>
          </a:xfrm>
          <a:prstGeom prst="rect">
            <a:avLst/>
          </a:prstGeom>
          <a:solidFill>
            <a:srgbClr val="4A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627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Runners-Up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Rainmaker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moment, not a practice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06440" y="2871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abstract, no specificity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passive — waits for growth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value; Alchemist creates 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Chamberlain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4489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Administrator, not practitioner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311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Alchemist's First Tasks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97480" cy="24688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69748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Audit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all existing investor-facing materials. What exists? What's current? What needs updating? Create a structured materials library.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697480" cy="24688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08760"/>
            <a:ext cx="269748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Investor Brief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updated investor briefing pack incorporating the PKI milestone, the security review completion, and the agentic team story. First transmutation.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697480" cy="2468880"/>
          </a:xfrm>
          <a:prstGeom prst="rect">
            <a:avLst/>
          </a:prstGeom>
          <a:solidFill>
            <a:srgbClr val="1C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69748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Follow-Up Package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full package for next week's B1 investor follow-up: prep brief, demo script, PKI explainer, and follow-up summary template.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Alchemist is the first Town Planner role — #20 in the team.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set the standard for how the Town Planner team operates.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5070348"/>
            <a:ext cx="8979408" cy="731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572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 is real.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Alchemist proves it.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Definition v0.4.12  ·  SG/Send  ·  CC BY 4.0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Alchemist — Role Definition</dc:title>
  <dc:subject>PptxGenJS Presentation</dc:subject>
  <dc:creator>PptxGenJS</dc:creator>
  <cp:lastModifiedBy>PptxGenJS</cp:lastModifiedBy>
  <cp:revision>1</cp:revision>
  <dcterms:created xsi:type="dcterms:W3CDTF">2026-02-20T17:33:17Z</dcterms:created>
  <dcterms:modified xsi:type="dcterms:W3CDTF">2026-02-20T17:33:17Z</dcterms:modified>
</cp:coreProperties>
</file>